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" y="16002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72184" y="16002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92808" y="16002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13432" y="16002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" y="2240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8AA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系統架構簡報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670048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PhrozenStudio Dental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060704" y="39502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FC8D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系統架構、Agent Box 與收費分級概覽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078992" y="4754880"/>
            <a:ext cx="2377440" cy="0"/>
          </a:xfrm>
          <a:prstGeom prst="line">
            <a:avLst/>
          </a:prstGeom>
          <a:noFill/>
          <a:ln w="25400">
            <a:solidFill>
              <a:srgbClr val="3A46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8AA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版本 v0.1（草稿）　·　2026　·　牙科 3D 列印多終端架構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9377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PHROZENSTUDIO DENTAL　收費分級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收費分級：Standard 與 Plus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9224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功能對照（定價待定）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292840" y="457200"/>
            <a:ext cx="566928" cy="402336"/>
          </a:xfrm>
          <a:prstGeom prst="roundRect">
            <a:avLst>
              <a:gd name="adj" fmla="val 18182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45720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p0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55648"/>
          <a:ext cx="10634472" cy="914400"/>
        </p:xfrm>
        <a:graphic>
          <a:graphicData uri="http://schemas.openxmlformats.org/drawingml/2006/table">
            <a:tbl>
              <a:tblPr/>
              <a:tblGrid>
                <a:gridCol w="5422392"/>
                <a:gridCol w="2606040"/>
                <a:gridCol w="260604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功能 / 能力</a:t>
                      </a:r>
                      <a:endParaRPr lang="en-US" sz="13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Standard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本地專業工具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Plus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Standard 全部 ＋ 雲端自動化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F6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切片 / 支撐 / 中空 / Ortho（本地運算）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9F6E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✓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9F6E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✓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機台控制與送印（連線模式）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9F6E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✓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9F6E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✓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多終端使用（筆電 / 手機 / Chromebook）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9F6E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✓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9F6E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✓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雲端帳號、列印紀錄、S3 檔案儲存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9F6E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✓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9F6E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✓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離線可用（透過本機 agent）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9F6E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✓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9F6E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✓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hextra 進階長支撐（赤兔級品質）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1AC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—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9F6E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✓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AI 自動支撐 / 自動擺位最佳化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1AC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—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9F6E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✓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雲端運算 / 異地切片（免本機算力）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1AC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—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9F6E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✓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離開診所、於行動端使用進階功能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1AC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—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9F6E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✓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14300" marR="114300" marT="50800" marB="508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6236208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Standard ＝ 完整的本地專業工具　·　Plus ＝ Standard 全部 ＋ 雲端撐起的自動化能力。價格欄位待定。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9377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PHROZENSTUDIO DENTAL　系統架構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系統架構：現況（本地運算版本）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9224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切片運算 100% 在本機 ── 零雲端運算成本、可離線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292840" y="457200"/>
            <a:ext cx="566928" cy="402336"/>
          </a:xfrm>
          <a:prstGeom prst="roundRect">
            <a:avLst>
              <a:gd name="adj" fmla="val 18182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45720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88720" y="1783080"/>
            <a:ext cx="10058400" cy="868680"/>
          </a:xfrm>
          <a:prstGeom prst="roundRect">
            <a:avLst>
              <a:gd name="adj" fmla="val 7368"/>
            </a:avLst>
          </a:prstGeom>
          <a:solidFill>
            <a:srgbClr val="EAF0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783080"/>
            <a:ext cx="1005840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前端應用　Frontend / Browser</a:t>
            </a:r>
            <a:endParaRPr lang="en-US" sz="14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Vue 3 + Pinia　·　Three.js 3D　·　PRZ WASM 編碼　·　雲端與本機雙 API client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188720" y="3246120"/>
            <a:ext cx="5303520" cy="2286000"/>
          </a:xfrm>
          <a:prstGeom prst="roundRect">
            <a:avLst>
              <a:gd name="adj" fmla="val 2800"/>
            </a:avLst>
          </a:prstGeom>
          <a:solidFill>
            <a:srgbClr val="E4F6EF"/>
          </a:solidFill>
          <a:ln w="15875">
            <a:solidFill>
              <a:srgbClr val="0E9F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3558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7F5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機台管理引擎　Machine Management Engine（FastAPI :5179）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417320" y="3749040"/>
            <a:ext cx="246888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9525">
            <a:solidFill>
              <a:srgbClr val="0E9F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3749040"/>
            <a:ext cx="2468880" cy="9875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切片運算服務</a:t>
            </a:r>
            <a:endParaRPr lang="en-US" sz="11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9AA1A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Slicing Service</a:t>
            </a:r>
            <a:endParaRPr lang="en-US" sz="11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切片 · 支撐 · 中空 · Ortho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069080" y="3749040"/>
            <a:ext cx="228600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9525">
            <a:solidFill>
              <a:srgbClr val="0E9F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69080" y="3749040"/>
            <a:ext cx="2286000" cy="9875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機台控制服務</a:t>
            </a:r>
            <a:endParaRPr lang="en-US" sz="11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9AA1A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Device Control Service</a:t>
            </a:r>
            <a:endParaRPr lang="en-US" sz="11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印表機通訊 · 區網探索 · 派工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417320" y="4864608"/>
            <a:ext cx="2468880" cy="475488"/>
          </a:xfrm>
          <a:prstGeom prst="roundRect">
            <a:avLst>
              <a:gd name="adj" fmla="val 13462"/>
            </a:avLst>
          </a:prstGeom>
          <a:solidFill>
            <a:srgbClr val="EFF3F2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486460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PrusaSlicer fork（C++ subprocess）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069080" y="4864608"/>
            <a:ext cx="2286000" cy="475488"/>
          </a:xfrm>
          <a:prstGeom prst="roundRect">
            <a:avLst>
              <a:gd name="adj" fmla="val 13462"/>
            </a:avLst>
          </a:prstGeom>
          <a:solidFill>
            <a:srgbClr val="EFF3F2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69080" y="486460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Job 狀態 · 中間檔 → 本機磁碟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903720" y="3246120"/>
            <a:ext cx="4526280" cy="2286000"/>
          </a:xfrm>
          <a:prstGeom prst="roundRect">
            <a:avLst>
              <a:gd name="adj" fmla="val 2800"/>
            </a:avLst>
          </a:prstGeom>
          <a:solidFill>
            <a:srgbClr val="FBEFD9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0" y="335584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650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AWS 雲端　Cloud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32320" y="3749040"/>
            <a:ext cx="214884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3749040"/>
            <a:ext cx="2148840" cy="1463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帳號與紀錄服務</a:t>
            </a:r>
            <a:endParaRPr lang="en-US" sz="11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9AA1A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Account &amp; Records API</a:t>
            </a:r>
            <a:endParaRPr lang="en-US" sz="11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認證 · 使用者 · 列印紀錄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18320" y="3749040"/>
            <a:ext cx="178308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0" y="3749040"/>
            <a:ext cx="1783080" cy="1463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S3 物件儲存</a:t>
            </a:r>
            <a:endParaRPr lang="en-US" sz="11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9AA1A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Object Storage</a:t>
            </a:r>
            <a:endParaRPr lang="en-US" sz="11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模型檔 · 切片檔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069080" y="5806440"/>
            <a:ext cx="2286000" cy="621792"/>
          </a:xfrm>
          <a:prstGeom prst="roundRect">
            <a:avLst>
              <a:gd name="adj" fmla="val 10294"/>
            </a:avLst>
          </a:prstGeom>
          <a:solidFill>
            <a:srgbClr val="ECEFF3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69080" y="5806440"/>
            <a:ext cx="22860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印表機　Printer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840480" y="2651760"/>
            <a:ext cx="0" cy="59436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206740" y="2651760"/>
            <a:ext cx="0" cy="59436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309860" y="2651760"/>
            <a:ext cx="0" cy="594360"/>
          </a:xfrm>
          <a:prstGeom prst="line">
            <a:avLst/>
          </a:prstGeom>
          <a:noFill/>
          <a:ln w="19050">
            <a:solidFill>
              <a:srgbClr val="8A93A0"/>
            </a:solidFill>
            <a:prstDash val="dash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492240" y="4498848"/>
            <a:ext cx="411480" cy="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212080" y="5532120"/>
            <a:ext cx="0" cy="27432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948940" y="2820924"/>
            <a:ext cx="1783080" cy="246888"/>
          </a:xfrm>
          <a:prstGeom prst="roundRect">
            <a:avLst>
              <a:gd name="adj" fmla="val 14815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48940" y="2820924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HTTP · localhost / 區網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7566660" y="2820924"/>
            <a:ext cx="1280160" cy="246888"/>
          </a:xfrm>
          <a:prstGeom prst="roundRect">
            <a:avLst>
              <a:gd name="adj" fmla="val 14815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66660" y="2820924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HTTPS · JWT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9464040" y="2820924"/>
            <a:ext cx="1691640" cy="246888"/>
          </a:xfrm>
          <a:prstGeom prst="roundRect">
            <a:avLst>
              <a:gd name="adj" fmla="val 14815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64040" y="282092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presigned URL 直連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4617720" y="5545836"/>
            <a:ext cx="1188720" cy="246888"/>
          </a:xfrm>
          <a:prstGeom prst="roundRect">
            <a:avLst>
              <a:gd name="adj" fmla="val 14815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17720" y="5545836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UDP / 區網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6903720" y="5669280"/>
            <a:ext cx="4526280" cy="768096"/>
          </a:xfrm>
          <a:prstGeom prst="roundRect">
            <a:avLst>
              <a:gd name="adj" fmla="val 8333"/>
            </a:avLst>
          </a:prstGeom>
          <a:solidFill>
            <a:srgbClr val="EEF1F4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50024" y="5705856"/>
            <a:ext cx="4233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現況　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切片運算完全在本機，零雲端運算成本、可離線。機台控制服務以 server-to-server 將列印紀錄寫回雲端。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9377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PHROZENSTUDIO DENTAL　系統架構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系統架構：算力上雲（混合版本）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9224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切片運算移至雲端，機台控制仍留本機 ── 代價是延遲、成本與離線能力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292840" y="457200"/>
            <a:ext cx="566928" cy="402336"/>
          </a:xfrm>
          <a:prstGeom prst="roundRect">
            <a:avLst>
              <a:gd name="adj" fmla="val 18182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45720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88720" y="1783080"/>
            <a:ext cx="10058400" cy="868680"/>
          </a:xfrm>
          <a:prstGeom prst="roundRect">
            <a:avLst>
              <a:gd name="adj" fmla="val 7368"/>
            </a:avLst>
          </a:prstGeom>
          <a:solidFill>
            <a:srgbClr val="EAF0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783080"/>
            <a:ext cx="1005840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前端應用　Frontend / Browser</a:t>
            </a:r>
            <a:endParaRPr lang="en-US" sz="14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Vue 3 + Pinia　·　Three.js 3D　·　PRZ WASM 編碼　·　雲端與本機雙 API client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188720" y="3246120"/>
            <a:ext cx="3611880" cy="2286000"/>
          </a:xfrm>
          <a:prstGeom prst="roundRect">
            <a:avLst>
              <a:gd name="adj" fmla="val 2800"/>
            </a:avLst>
          </a:prstGeom>
          <a:solidFill>
            <a:srgbClr val="E4F6EF"/>
          </a:solidFill>
          <a:ln w="15875">
            <a:solidFill>
              <a:srgbClr val="0E9F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35584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7F5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機台管理引擎（FastAPI :5179）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417320" y="3749040"/>
            <a:ext cx="315468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0E9F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3749040"/>
            <a:ext cx="3154680" cy="11430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機台控制服務</a:t>
            </a:r>
            <a:endParaRPr lang="en-US" sz="11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780" dirty="0">
                <a:solidFill>
                  <a:srgbClr val="9AA1A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Device Control Service · 不可遷移</a:t>
            </a:r>
            <a:endParaRPr lang="en-US" sz="11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印表機通訊 · 區網探索 · 派工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417320" y="5029200"/>
            <a:ext cx="3154680" cy="411480"/>
          </a:xfrm>
          <a:prstGeom prst="roundRect">
            <a:avLst>
              <a:gd name="adj" fmla="val 15556"/>
            </a:avLst>
          </a:prstGeom>
          <a:solidFill>
            <a:srgbClr val="EFF3F2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50292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引擎變輕：不再含切片運算 / PrusaSlicer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5074920" y="3246120"/>
            <a:ext cx="6355080" cy="2286000"/>
          </a:xfrm>
          <a:prstGeom prst="roundRect">
            <a:avLst>
              <a:gd name="adj" fmla="val 2800"/>
            </a:avLst>
          </a:prstGeom>
          <a:solidFill>
            <a:srgbClr val="FBEFD9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800" y="3355848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650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AWS 雲端　Cloud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03520" y="374904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3749040"/>
            <a:ext cx="1691640" cy="1481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帳號與紀錄服務</a:t>
            </a:r>
            <a:endParaRPr lang="en-US" sz="10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認證 · 使用者</a:t>
            </a:r>
            <a:endParaRPr lang="en-US" sz="10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列印紀錄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2320" y="3749040"/>
            <a:ext cx="1463040" cy="1481328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3749040"/>
            <a:ext cx="1463040" cy="1481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S3 物件儲存</a:t>
            </a:r>
            <a:endParaRPr lang="en-US" sz="10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模型檔</a:t>
            </a:r>
            <a:endParaRPr lang="en-US" sz="10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切片檔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732520" y="3749040"/>
            <a:ext cx="2468880" cy="1481328"/>
          </a:xfrm>
          <a:prstGeom prst="roundRect">
            <a:avLst>
              <a:gd name="adj" fmla="val 4321"/>
            </a:avLst>
          </a:prstGeom>
          <a:solidFill>
            <a:srgbClr val="EFE9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32520" y="3749040"/>
            <a:ext cx="2468880" cy="1481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5B27B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雲端切片運算服務</a:t>
            </a:r>
            <a:endParaRPr lang="en-US" sz="10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780" dirty="0">
                <a:solidFill>
                  <a:srgbClr val="5B27B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新增 · Cloud Slicing</a:t>
            </a:r>
            <a:endParaRPr lang="en-US" sz="10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容器化 PrusaSlicer</a:t>
            </a:r>
            <a:endParaRPr lang="en-US" sz="10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（原本地切片運算服務）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828800" y="5806440"/>
            <a:ext cx="2331720" cy="621792"/>
          </a:xfrm>
          <a:prstGeom prst="roundRect">
            <a:avLst>
              <a:gd name="adj" fmla="val 10294"/>
            </a:avLst>
          </a:prstGeom>
          <a:solidFill>
            <a:srgbClr val="ECEFF3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0" y="5806440"/>
            <a:ext cx="233172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印表機　Printer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994660" y="2651760"/>
            <a:ext cx="0" cy="59436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149340" y="2651760"/>
            <a:ext cx="0" cy="59436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863840" y="2651760"/>
            <a:ext cx="0" cy="594360"/>
          </a:xfrm>
          <a:prstGeom prst="line">
            <a:avLst/>
          </a:prstGeom>
          <a:noFill/>
          <a:ln w="19050">
            <a:solidFill>
              <a:srgbClr val="8A93A0"/>
            </a:solidFill>
            <a:prstDash val="dash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966960" y="2651760"/>
            <a:ext cx="0" cy="594360"/>
          </a:xfrm>
          <a:prstGeom prst="line">
            <a:avLst/>
          </a:prstGeom>
          <a:noFill/>
          <a:ln w="34925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800600" y="4498848"/>
            <a:ext cx="274320" cy="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994660" y="5532120"/>
            <a:ext cx="0" cy="27432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103120" y="2820924"/>
            <a:ext cx="1783080" cy="246888"/>
          </a:xfrm>
          <a:prstGeom prst="roundRect">
            <a:avLst>
              <a:gd name="adj" fmla="val 14815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03120" y="2820924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HTTP · localhost / 區網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5509260" y="2820924"/>
            <a:ext cx="1280160" cy="246888"/>
          </a:xfrm>
          <a:prstGeom prst="roundRect">
            <a:avLst>
              <a:gd name="adj" fmla="val 14815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09260" y="2820924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HTTPS · JWT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7178040" y="2820924"/>
            <a:ext cx="1371600" cy="246888"/>
          </a:xfrm>
          <a:prstGeom prst="roundRect">
            <a:avLst>
              <a:gd name="adj" fmla="val 14815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78040" y="282092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presigned URL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9121140" y="2820924"/>
            <a:ext cx="1691640" cy="246888"/>
          </a:xfrm>
          <a:prstGeom prst="roundRect">
            <a:avLst>
              <a:gd name="adj" fmla="val 14815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21140" y="282092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27B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切片請求 → 雲端</a:t>
            </a:r>
            <a:endParaRPr lang="en-US" sz="830" dirty="0"/>
          </a:p>
        </p:txBody>
      </p:sp>
      <p:sp>
        <p:nvSpPr>
          <p:cNvPr id="40" name="Shape 38"/>
          <p:cNvSpPr/>
          <p:nvPr/>
        </p:nvSpPr>
        <p:spPr>
          <a:xfrm>
            <a:off x="2400300" y="5545836"/>
            <a:ext cx="1188720" cy="246888"/>
          </a:xfrm>
          <a:prstGeom prst="roundRect">
            <a:avLst>
              <a:gd name="adj" fmla="val 14815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00300" y="5545836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UDP / 區網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5074920" y="5669280"/>
            <a:ext cx="6355080" cy="768096"/>
          </a:xfrm>
          <a:prstGeom prst="roundRect">
            <a:avLst>
              <a:gd name="adj" fmla="val 8333"/>
            </a:avLst>
          </a:prstGeom>
          <a:solidFill>
            <a:srgbClr val="F3EFFB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21224" y="5705856"/>
            <a:ext cx="6062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代價　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切片運算上雲後：STL 上傳延遲、egress 流量成本、需 job queue 與狀態儲存、失去離線。機台控制服務走不掉 ── 引擎不會消失。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9377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PHROZENSTUDIO DENTAL　部署單位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什麼是 Agent Box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9224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機台管理引擎的部署單位 ── 一間診所一台，所有終端共用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292840" y="457200"/>
            <a:ext cx="566928" cy="402336"/>
          </a:xfrm>
          <a:prstGeom prst="roundRect">
            <a:avLst>
              <a:gd name="adj" fmla="val 18182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45720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783080"/>
            <a:ext cx="8275320" cy="2926080"/>
          </a:xfrm>
          <a:prstGeom prst="roundRect">
            <a:avLst>
              <a:gd name="adj" fmla="val 2813"/>
            </a:avLst>
          </a:prstGeom>
          <a:solidFill>
            <a:srgbClr val="EDF0F3"/>
          </a:solidFill>
          <a:ln w="15875">
            <a:solidFill>
              <a:srgbClr val="AEB7C2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987552" y="1865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診所區網　Clinic LAN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97280" y="2212848"/>
            <a:ext cx="2240280" cy="548640"/>
          </a:xfrm>
          <a:prstGeom prst="roundRect">
            <a:avLst>
              <a:gd name="adj" fmla="val 11667"/>
            </a:avLst>
          </a:prstGeom>
          <a:solidFill>
            <a:srgbClr val="EAF0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212848"/>
            <a:ext cx="2240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筆電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0" y="2212848"/>
            <a:ext cx="2240280" cy="548640"/>
          </a:xfrm>
          <a:prstGeom prst="roundRect">
            <a:avLst>
              <a:gd name="adj" fmla="val 11667"/>
            </a:avLst>
          </a:prstGeom>
          <a:solidFill>
            <a:srgbClr val="EAF0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2212848"/>
            <a:ext cx="2240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手機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2212848"/>
            <a:ext cx="2240280" cy="548640"/>
          </a:xfrm>
          <a:prstGeom prst="roundRect">
            <a:avLst>
              <a:gd name="adj" fmla="val 11667"/>
            </a:avLst>
          </a:prstGeom>
          <a:solidFill>
            <a:srgbClr val="EAF0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212848"/>
            <a:ext cx="2240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Chromebook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97280" y="3035808"/>
            <a:ext cx="7360920" cy="932688"/>
          </a:xfrm>
          <a:prstGeom prst="roundRect">
            <a:avLst>
              <a:gd name="adj" fmla="val 6863"/>
            </a:avLst>
          </a:prstGeom>
          <a:solidFill>
            <a:srgbClr val="E4F6EF"/>
          </a:solidFill>
          <a:ln w="25400">
            <a:solidFill>
              <a:srgbClr val="0E9F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035808"/>
            <a:ext cx="7360920" cy="9326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0A7F5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Agent Box</a:t>
            </a:r>
            <a:endParaRPr lang="en-US" sz="15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運行機台管理引擎　·　切片運算服務 ＋ 機台控制服務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566160" y="4133088"/>
            <a:ext cx="2423160" cy="457200"/>
          </a:xfrm>
          <a:prstGeom prst="roundRect">
            <a:avLst>
              <a:gd name="adj" fmla="val 14000"/>
            </a:avLst>
          </a:prstGeom>
          <a:solidFill>
            <a:srgbClr val="ECEFF3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4133088"/>
            <a:ext cx="24231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印表機　Printer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418320" y="2395728"/>
            <a:ext cx="2286000" cy="1783080"/>
          </a:xfrm>
          <a:prstGeom prst="roundRect">
            <a:avLst>
              <a:gd name="adj" fmla="val 3590"/>
            </a:avLst>
          </a:prstGeom>
          <a:solidFill>
            <a:srgbClr val="FBEFD9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0" y="2395728"/>
            <a:ext cx="2286000" cy="1783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A8650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AWS 雲端</a:t>
            </a:r>
            <a:endParaRPr lang="en-US" sz="1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帳號 · 認證</a:t>
            </a:r>
            <a:endParaRPr lang="en-US" sz="1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列印紀錄</a:t>
            </a:r>
            <a:endParaRPr lang="en-US" sz="1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S3 檔案儲存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17420" y="2761488"/>
            <a:ext cx="0" cy="27432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777740" y="2761488"/>
            <a:ext cx="0" cy="27432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338060" y="2761488"/>
            <a:ext cx="0" cy="27432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777740" y="3968496"/>
            <a:ext cx="0" cy="164592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52560" y="3246120"/>
            <a:ext cx="365760" cy="0"/>
          </a:xfrm>
          <a:prstGeom prst="line">
            <a:avLst/>
          </a:prstGeom>
          <a:noFill/>
          <a:ln w="15875">
            <a:solidFill>
              <a:srgbClr val="8A93A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77240" y="4956048"/>
            <a:ext cx="370332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8408" y="51023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490472" y="510235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Windows 工作站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96696" y="5596128"/>
            <a:ext cx="3310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最常見的形態 ── 同一台機器同時是使用者終端，也是 Agent Box。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4956048"/>
            <a:ext cx="370332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51023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9F6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422392" y="510235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專用迷你主機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28616" y="5596128"/>
            <a:ext cx="3310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只負責當引擎的「診所 hub」；終端全為手機 / Chromebook 時最適用。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641080" y="4956048"/>
            <a:ext cx="2926080" cy="1481328"/>
          </a:xfrm>
          <a:prstGeom prst="roundRect">
            <a:avLst>
              <a:gd name="adj" fmla="val 4321"/>
            </a:avLst>
          </a:prstGeom>
          <a:solidFill>
            <a:srgbClr val="F3EFFB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87384" y="4992624"/>
            <a:ext cx="263347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何時可免　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改用手動模式（雲端切片 ＋ USB/SD 送印），或未來改用連雲機種，即可不需要 Agent Box。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9377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PHROZENSTUDIO DENTAL　終端節點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終端節點：筆電（Web）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9224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可同時作為前端與引擎宿主 ── 能力最完整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292840" y="457200"/>
            <a:ext cx="566928" cy="402336"/>
          </a:xfrm>
          <a:prstGeom prst="roundRect">
            <a:avLst>
              <a:gd name="adj" fmla="val 18182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45720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94560" y="1783080"/>
            <a:ext cx="7772400" cy="960120"/>
          </a:xfrm>
          <a:prstGeom prst="roundRect">
            <a:avLst>
              <a:gd name="adj" fmla="val 6667"/>
            </a:avLst>
          </a:prstGeom>
          <a:solidFill>
            <a:srgbClr val="EAF0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783080"/>
            <a:ext cx="7772400" cy="9601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筆電　Web / Laptop</a:t>
            </a:r>
            <a:endParaRPr lang="en-US" sz="14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桌面瀏覽器 ＋ 可在本機直接運行機台管理引擎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41248" y="3383280"/>
            <a:ext cx="3429000" cy="1600200"/>
          </a:xfrm>
          <a:prstGeom prst="roundRect">
            <a:avLst>
              <a:gd name="adj" fmla="val 4000"/>
            </a:avLst>
          </a:prstGeom>
          <a:solidFill>
            <a:srgbClr val="E4F6EF"/>
          </a:solidFill>
          <a:ln w="15875">
            <a:solidFill>
              <a:srgbClr val="0E9F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383280"/>
            <a:ext cx="3429000" cy="1600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A7F5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機台管理引擎</a:t>
            </a: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切片運算 · 機台控制</a:t>
            </a: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9AA1A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可在筆電本機或同區網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90288" y="3383280"/>
            <a:ext cx="3246120" cy="1600200"/>
          </a:xfrm>
          <a:prstGeom prst="roundRect">
            <a:avLst>
              <a:gd name="adj" fmla="val 4000"/>
            </a:avLst>
          </a:prstGeom>
          <a:solidFill>
            <a:srgbClr val="FBEFD9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3383280"/>
            <a:ext cx="3246120" cy="1600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A8650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AWS 雲端</a:t>
            </a: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帳號 · 認證 · 列印紀錄</a:t>
            </a: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S3 檔案儲存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6448" y="3383280"/>
            <a:ext cx="3200400" cy="1600200"/>
          </a:xfrm>
          <a:prstGeom prst="roundRect">
            <a:avLst>
              <a:gd name="adj" fmla="val 4000"/>
            </a:avLst>
          </a:prstGeom>
          <a:solidFill>
            <a:srgbClr val="EFE9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56448" y="3383280"/>
            <a:ext cx="3200400" cy="1600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5B27B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雲端進階服務</a:t>
            </a: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hextra 長支撐 · AI 自動支撐</a:t>
            </a: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異地切片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966960" y="324612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0" y="3246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Plus 限定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1421892" y="5486400"/>
            <a:ext cx="2240280" cy="566928"/>
          </a:xfrm>
          <a:prstGeom prst="roundRect">
            <a:avLst>
              <a:gd name="adj" fmla="val 11290"/>
            </a:avLst>
          </a:prstGeom>
          <a:solidFill>
            <a:srgbClr val="ECEFF3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21892" y="5486400"/>
            <a:ext cx="224028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印表機　Printer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51176" y="2743200"/>
            <a:ext cx="0" cy="64008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08776" y="2743200"/>
            <a:ext cx="0" cy="64008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756648" y="2743200"/>
            <a:ext cx="0" cy="64008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551176" y="4983480"/>
            <a:ext cx="0" cy="50292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773936" y="2939796"/>
            <a:ext cx="1554480" cy="246888"/>
          </a:xfrm>
          <a:prstGeom prst="roundRect">
            <a:avLst>
              <a:gd name="adj" fmla="val 14815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73936" y="2939796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本機 / 區網 HTTP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5568696" y="2939796"/>
            <a:ext cx="1280160" cy="246888"/>
          </a:xfrm>
          <a:prstGeom prst="roundRect">
            <a:avLst>
              <a:gd name="adj" fmla="val 14815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68696" y="293979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HTTPS · JWT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9070848" y="2939796"/>
            <a:ext cx="1371600" cy="246888"/>
          </a:xfrm>
          <a:prstGeom prst="roundRect">
            <a:avLst>
              <a:gd name="adj" fmla="val 14815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70848" y="293979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27B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HTTPS（Plus）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1956816" y="5106924"/>
            <a:ext cx="1188720" cy="246888"/>
          </a:xfrm>
          <a:prstGeom prst="roundRect">
            <a:avLst>
              <a:gd name="adj" fmla="val 14815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56816" y="5106924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UDP / 區網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4023360" y="5486400"/>
            <a:ext cx="7315200" cy="868680"/>
          </a:xfrm>
          <a:prstGeom prst="roundRect">
            <a:avLst>
              <a:gd name="adj" fmla="val 7368"/>
            </a:avLst>
          </a:prstGeom>
          <a:solidFill>
            <a:srgbClr val="EEF1F4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69664" y="5522976"/>
            <a:ext cx="70225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筆電　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唯一能同時當前端與引擎宿主的終端;Standard 即完整可用、可離線。Plus 再加雲端進階服務（hextra / AI / 異地切片）。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9377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PHROZENSTUDIO DENTAL　終端節點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終端節點：手機（Mobile）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9224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純終端 ── 能做什麼，取決於是否搆得到 agent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292840" y="457200"/>
            <a:ext cx="566928" cy="402336"/>
          </a:xfrm>
          <a:prstGeom prst="roundRect">
            <a:avLst>
              <a:gd name="adj" fmla="val 18182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45720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94476" y="1783080"/>
            <a:ext cx="0" cy="393192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847088"/>
            <a:ext cx="128016" cy="182880"/>
          </a:xfrm>
          <a:prstGeom prst="roundRect">
            <a:avLst>
              <a:gd name="adj" fmla="val 21429"/>
            </a:avLst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在診所內 · 與工作站同區網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2286000"/>
            <a:ext cx="4892040" cy="777240"/>
          </a:xfrm>
          <a:prstGeom prst="roundRect">
            <a:avLst>
              <a:gd name="adj" fmla="val 8235"/>
            </a:avLst>
          </a:prstGeom>
          <a:solidFill>
            <a:srgbClr val="EAF0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286000"/>
            <a:ext cx="48920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手機　Mobile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3520440"/>
            <a:ext cx="2423160" cy="1188720"/>
          </a:xfrm>
          <a:prstGeom prst="roundRect">
            <a:avLst>
              <a:gd name="adj" fmla="val 5385"/>
            </a:avLst>
          </a:prstGeom>
          <a:solidFill>
            <a:srgbClr val="E4F6EF"/>
          </a:solidFill>
          <a:ln w="15875">
            <a:solidFill>
              <a:srgbClr val="0E9F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520440"/>
            <a:ext cx="2423160" cy="11887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0A7F5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機台管理引擎</a:t>
            </a:r>
            <a:endParaRPr lang="en-US" sz="11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切片運算</a:t>
            </a:r>
            <a:endParaRPr lang="en-US" sz="11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機台控制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9000" y="3520440"/>
            <a:ext cx="2286000" cy="1188720"/>
          </a:xfrm>
          <a:prstGeom prst="roundRect">
            <a:avLst>
              <a:gd name="adj" fmla="val 5385"/>
            </a:avLst>
          </a:prstGeom>
          <a:solidFill>
            <a:srgbClr val="FBEFD9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3520440"/>
            <a:ext cx="2286000" cy="11887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A8650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AWS 雲端</a:t>
            </a:r>
            <a:endParaRPr lang="en-US" sz="11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帳號 · 列印紀錄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4937760"/>
            <a:ext cx="2240280" cy="502920"/>
          </a:xfrm>
          <a:prstGeom prst="roundRect">
            <a:avLst>
              <a:gd name="adj" fmla="val 12727"/>
            </a:avLst>
          </a:prstGeom>
          <a:solidFill>
            <a:srgbClr val="ECEFF3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937760"/>
            <a:ext cx="224028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印表機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988820" y="3063240"/>
            <a:ext cx="0" cy="45720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572000" y="3063240"/>
            <a:ext cx="0" cy="45720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988820" y="4709160"/>
            <a:ext cx="0" cy="22860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291840" y="507492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5074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Standard / Plus 皆完整可用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6355080" y="1847088"/>
            <a:ext cx="128016" cy="182880"/>
          </a:xfrm>
          <a:prstGeom prst="roundRect">
            <a:avLst>
              <a:gd name="adj" fmla="val 214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74536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離開診所 · 僅雲端可達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92240" y="2286000"/>
            <a:ext cx="4846320" cy="777240"/>
          </a:xfrm>
          <a:prstGeom prst="roundRect">
            <a:avLst>
              <a:gd name="adj" fmla="val 8235"/>
            </a:avLst>
          </a:prstGeom>
          <a:solidFill>
            <a:srgbClr val="EAF0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2286000"/>
            <a:ext cx="484632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手機　Mobile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0" y="3520440"/>
            <a:ext cx="2331720" cy="1188720"/>
          </a:xfrm>
          <a:prstGeom prst="roundRect">
            <a:avLst>
              <a:gd name="adj" fmla="val 5385"/>
            </a:avLst>
          </a:prstGeom>
          <a:solidFill>
            <a:srgbClr val="FBEFD9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3520440"/>
            <a:ext cx="2331720" cy="11887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A8650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AWS 雲端</a:t>
            </a:r>
            <a:endParaRPr lang="en-US" sz="11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帳號 · 列印紀錄</a:t>
            </a:r>
            <a:endParaRPr lang="en-US" sz="11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9AA1A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Standard：僅能查看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961120" y="3520440"/>
            <a:ext cx="2377440" cy="1188720"/>
          </a:xfrm>
          <a:prstGeom prst="roundRect">
            <a:avLst>
              <a:gd name="adj" fmla="val 5385"/>
            </a:avLst>
          </a:prstGeom>
          <a:solidFill>
            <a:srgbClr val="EFE9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0" y="3520440"/>
            <a:ext cx="2377440" cy="11887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5B27B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雲端進階服務</a:t>
            </a:r>
            <a:endParaRPr lang="en-US" sz="11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hextra · AI · 異地切片</a:t>
            </a:r>
            <a:endParaRPr lang="en-US" sz="11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5B27B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Plus 限定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566660" y="3063240"/>
            <a:ext cx="0" cy="45720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149840" y="3063240"/>
            <a:ext cx="0" cy="45720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400800" y="4937760"/>
            <a:ext cx="4937760" cy="457200"/>
          </a:xfrm>
          <a:prstGeom prst="roundRect">
            <a:avLst>
              <a:gd name="adj" fmla="val 14000"/>
            </a:avLst>
          </a:prstGeom>
          <a:solidFill>
            <a:srgbClr val="F1F2F4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4937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9AA1A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✕　機台管理引擎：離開區網即搆不到 ── 無法本機切片 / 送印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731520" y="5897880"/>
            <a:ext cx="10698480" cy="713232"/>
          </a:xfrm>
          <a:prstGeom prst="roundRect">
            <a:avLst>
              <a:gd name="adj" fmla="val 8974"/>
            </a:avLst>
          </a:prstGeom>
          <a:solidFill>
            <a:srgbClr val="EEF1F4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7824" y="5934456"/>
            <a:ext cx="10405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重點　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手機是純終端。在診所內 Standard / Plus 都完整可用;離開診所 Standard 只能查看紀錄，Plus 仍能用 hextra / AI / 異地切片。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9377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PHROZENSTUDIO DENTAL　終端節點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終端節點：Chromebook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9224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跑不動 agent ── 連線模式需 agent box，手動模式（Plus）可免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292840" y="457200"/>
            <a:ext cx="566928" cy="402336"/>
          </a:xfrm>
          <a:prstGeom prst="roundRect">
            <a:avLst>
              <a:gd name="adj" fmla="val 18182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45720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94476" y="1783080"/>
            <a:ext cx="0" cy="402336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847088"/>
            <a:ext cx="128016" cy="182880"/>
          </a:xfrm>
          <a:prstGeom prst="roundRect">
            <a:avLst>
              <a:gd name="adj" fmla="val 21429"/>
            </a:avLst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連線模式 · 需區網上的 agent box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2286000"/>
            <a:ext cx="4846320" cy="749808"/>
          </a:xfrm>
          <a:prstGeom prst="roundRect">
            <a:avLst>
              <a:gd name="adj" fmla="val 8537"/>
            </a:avLst>
          </a:prstGeom>
          <a:solidFill>
            <a:srgbClr val="EAF0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286000"/>
            <a:ext cx="4846320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Chromebook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3429000"/>
            <a:ext cx="2468880" cy="1234440"/>
          </a:xfrm>
          <a:prstGeom prst="roundRect">
            <a:avLst>
              <a:gd name="adj" fmla="val 5185"/>
            </a:avLst>
          </a:prstGeom>
          <a:solidFill>
            <a:srgbClr val="E4F6EF"/>
          </a:solidFill>
          <a:ln w="15875">
            <a:solidFill>
              <a:srgbClr val="0E9F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429000"/>
            <a:ext cx="2468880" cy="12344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A7F5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機台管理引擎</a:t>
            </a:r>
            <a:endParaRPr lang="en-US" sz="10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跑在區網一台</a:t>
            </a:r>
            <a:endParaRPr lang="en-US" sz="10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agent box 上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0" y="3429000"/>
            <a:ext cx="2240280" cy="1234440"/>
          </a:xfrm>
          <a:prstGeom prst="roundRect">
            <a:avLst>
              <a:gd name="adj" fmla="val 5185"/>
            </a:avLst>
          </a:prstGeom>
          <a:solidFill>
            <a:srgbClr val="FBEFD9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3429000"/>
            <a:ext cx="2240280" cy="12344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A8650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AWS 雲端</a:t>
            </a:r>
            <a:endParaRPr lang="en-US" sz="10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帳號 · 列印紀錄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8680" y="4892040"/>
            <a:ext cx="2286000" cy="502920"/>
          </a:xfrm>
          <a:prstGeom prst="roundRect">
            <a:avLst>
              <a:gd name="adj" fmla="val 12727"/>
            </a:avLst>
          </a:prstGeom>
          <a:solidFill>
            <a:srgbClr val="ECEFF3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892040"/>
            <a:ext cx="22860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印表機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011680" y="3035808"/>
            <a:ext cx="0" cy="393192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594860" y="3035808"/>
            <a:ext cx="0" cy="393192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011680" y="4663440"/>
            <a:ext cx="0" cy="22860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371600" y="553212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Standard / Plus 皆可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6355080" y="1847088"/>
            <a:ext cx="128016" cy="182880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74536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手動模式（Plus）· 免 agent box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040880" y="2240280"/>
            <a:ext cx="2743200" cy="676656"/>
          </a:xfrm>
          <a:prstGeom prst="roundRect">
            <a:avLst>
              <a:gd name="adj" fmla="val 9459"/>
            </a:avLst>
          </a:prstGeom>
          <a:solidFill>
            <a:srgbClr val="EAF0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2240280"/>
            <a:ext cx="2743200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Chromebook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058400" y="2304288"/>
            <a:ext cx="1371600" cy="676656"/>
          </a:xfrm>
          <a:prstGeom prst="roundRect">
            <a:avLst>
              <a:gd name="adj" fmla="val 9459"/>
            </a:avLst>
          </a:prstGeom>
          <a:solidFill>
            <a:srgbClr val="FBEFD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0" y="2304288"/>
            <a:ext cx="1371600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A8650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AWS 雲端</a:t>
            </a:r>
            <a:endParaRPr lang="en-US" sz="8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帳號 · 紀錄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040880" y="3273552"/>
            <a:ext cx="2743200" cy="841248"/>
          </a:xfrm>
          <a:prstGeom prst="roundRect">
            <a:avLst>
              <a:gd name="adj" fmla="val 7609"/>
            </a:avLst>
          </a:prstGeom>
          <a:solidFill>
            <a:srgbClr val="EFE9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3273552"/>
            <a:ext cx="2743200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5B27B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雲端切片運算服務（Plus）</a:t>
            </a:r>
            <a:endParaRPr lang="en-US" sz="9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容器化 PrusaSlicer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315200" y="4416552"/>
            <a:ext cx="2194560" cy="548640"/>
          </a:xfrm>
          <a:prstGeom prst="roundRect">
            <a:avLst>
              <a:gd name="adj" fmla="val 11667"/>
            </a:avLst>
          </a:prstGeom>
          <a:solidFill>
            <a:srgbClr val="EFF3F2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0" y="4416552"/>
            <a:ext cx="21945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USB / SD 隨身碟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040880" y="5257800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ECEFF3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0" y="5257800"/>
            <a:ext cx="274320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印表機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784080" y="2596896"/>
            <a:ext cx="274320" cy="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412480" y="2916936"/>
            <a:ext cx="0" cy="356616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412480" y="4114800"/>
            <a:ext cx="0" cy="301752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412480" y="4965192"/>
            <a:ext cx="0" cy="292608"/>
          </a:xfrm>
          <a:prstGeom prst="line">
            <a:avLst/>
          </a:prstGeom>
          <a:noFill/>
          <a:ln w="19050">
            <a:solidFill>
              <a:srgbClr val="8A93A0"/>
            </a:solidFill>
            <a:prstDash val="dash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909560" y="2971800"/>
            <a:ext cx="1005840" cy="246888"/>
          </a:xfrm>
          <a:prstGeom prst="roundRect">
            <a:avLst>
              <a:gd name="adj" fmla="val 14815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09560" y="297180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27B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切片請求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7840980" y="4142232"/>
            <a:ext cx="1143000" cy="246888"/>
          </a:xfrm>
          <a:prstGeom prst="roundRect">
            <a:avLst>
              <a:gd name="adj" fmla="val 14815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40980" y="4142232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下載切片檔</a:t>
            </a:r>
            <a:endParaRPr lang="en-US" sz="830" dirty="0"/>
          </a:p>
        </p:txBody>
      </p:sp>
      <p:sp>
        <p:nvSpPr>
          <p:cNvPr id="44" name="Shape 42"/>
          <p:cNvSpPr/>
          <p:nvPr/>
        </p:nvSpPr>
        <p:spPr>
          <a:xfrm>
            <a:off x="7909560" y="4988052"/>
            <a:ext cx="1005840" cy="246888"/>
          </a:xfrm>
          <a:prstGeom prst="roundRect">
            <a:avLst>
              <a:gd name="adj" fmla="val 14815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09560" y="498805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手動拷貝</a:t>
            </a:r>
            <a:endParaRPr lang="en-US" sz="830" dirty="0"/>
          </a:p>
        </p:txBody>
      </p:sp>
      <p:sp>
        <p:nvSpPr>
          <p:cNvPr id="46" name="Shape 44"/>
          <p:cNvSpPr/>
          <p:nvPr/>
        </p:nvSpPr>
        <p:spPr>
          <a:xfrm>
            <a:off x="731520" y="5943600"/>
            <a:ext cx="10698480" cy="713232"/>
          </a:xfrm>
          <a:prstGeom prst="roundRect">
            <a:avLst>
              <a:gd name="adj" fmla="val 8974"/>
            </a:avLst>
          </a:prstGeom>
          <a:solidFill>
            <a:srgbClr val="F3EFFB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7824" y="5980176"/>
            <a:ext cx="10405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Chromebook　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連線模式靠區網上一台 agent box（Standard / Plus 皆可）。手動模式（Plus）：雲端切片 → 下載 → USB/SD 送印，免 box，但失去即時監控與自動紀錄 ── 適合教育場景。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PhrozenStudio Dental 系統架構與分級 v0.1</dc:title>
  <dc:subject>PptxGenJS Presentation</dc:subject>
  <dc:creator>PhrozenStudio Dental</dc:creator>
  <cp:lastModifiedBy>PhrozenStudio Dental</cp:lastModifiedBy>
  <cp:revision>1</cp:revision>
  <dcterms:created xsi:type="dcterms:W3CDTF">2026-05-25T02:03:38Z</dcterms:created>
  <dcterms:modified xsi:type="dcterms:W3CDTF">2026-05-25T02:03:38Z</dcterms:modified>
</cp:coreProperties>
</file>