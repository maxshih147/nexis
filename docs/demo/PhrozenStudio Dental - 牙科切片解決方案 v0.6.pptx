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5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" y="141732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72184" y="141732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92808" y="141732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13432" y="141732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0704" y="2057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7E8AA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DENTAL SLICING SOLUTION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2542032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PhrozenStudio Dental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1060704" y="3977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FC8D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牙科切片解決方案　Dental Slicing Solution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60704" y="4572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A0B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牙科專用　·　驗證機台與樹脂　·　一條龍流程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60704" y="4937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E8AA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Dental-focused　·　Validated machines &amp; resins　·　End-to-end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78992" y="5212080"/>
            <a:ext cx="2377440" cy="0"/>
          </a:xfrm>
          <a:prstGeom prst="line">
            <a:avLst/>
          </a:prstGeom>
          <a:noFill/>
          <a:ln w="25400">
            <a:solidFill>
              <a:srgbClr val="3A46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0704" y="5715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6C2D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Phrozen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60704" y="6126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0B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by Max Shih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60704" y="64465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9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v0.6　·　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93776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96112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PHROZENSTUDIO DENTAL　AGENDA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今日議程　Agenda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1292840" y="457200"/>
            <a:ext cx="566928" cy="402336"/>
          </a:xfrm>
          <a:prstGeom prst="roundRect">
            <a:avLst>
              <a:gd name="adj" fmla="val 18182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92840" y="457200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02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7240" y="2103120"/>
            <a:ext cx="896112" cy="896112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103120"/>
            <a:ext cx="8961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920240" y="2176272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機台與樹脂生態　Machines &amp; Resins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920240" y="2651760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Hardware × Material lineup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" y="3182112"/>
            <a:ext cx="896112" cy="896112"/>
          </a:xfrm>
          <a:prstGeom prst="roundRect">
            <a:avLst>
              <a:gd name="adj" fmla="val 14286"/>
            </a:avLst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182112"/>
            <a:ext cx="8961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920240" y="3255264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牙科專用模式與功能　Modes &amp; Features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920240" y="3730752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Dental modes × feature map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7240" y="4261104"/>
            <a:ext cx="896112" cy="896112"/>
          </a:xfrm>
          <a:prstGeom prst="roundRect">
            <a:avLst>
              <a:gd name="adj" fmla="val 14286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261104"/>
            <a:ext cx="8961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920240" y="4334256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實機操作　Live Demo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920240" y="4809744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End-to-end product walkthrough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" y="5340096"/>
            <a:ext cx="896112" cy="896112"/>
          </a:xfrm>
          <a:prstGeom prst="roundRect">
            <a:avLst>
              <a:gd name="adj" fmla="val 1428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5340096"/>
            <a:ext cx="8961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920240" y="5413248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差異化與導入價值　Value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920240" y="5888736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Why us · benefits per role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93776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96112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PHROZENSTUDIO DENTAL　PROBLEM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傳統切片器的痛點　The Problem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1292840" y="457200"/>
            <a:ext cx="566928" cy="402336"/>
          </a:xfrm>
          <a:prstGeom prst="roundRect">
            <a:avLst>
              <a:gd name="adj" fmla="val 18182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92840" y="457200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03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7240" y="1874520"/>
            <a:ext cx="3611880" cy="4434840"/>
          </a:xfrm>
          <a:prstGeom prst="roundRect">
            <a:avLst>
              <a:gd name="adj" fmla="val 1772"/>
            </a:avLst>
          </a:prstGeom>
          <a:solidFill>
            <a:srgbClr val="FFFFFF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874520"/>
            <a:ext cx="3611880" cy="14630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1945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770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051560" y="28803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安裝與維護負擔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51560" y="33832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1A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Installation &amp; maintenance burden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51560" y="402336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每台電腦都要安裝、要更新；換機器就得重來。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Install on every PC, keep updating; reinstall when switching machines.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17720" y="1874520"/>
            <a:ext cx="3611880" cy="4434840"/>
          </a:xfrm>
          <a:prstGeom prst="roundRect">
            <a:avLst>
              <a:gd name="adj" fmla="val 1772"/>
            </a:avLst>
          </a:prstGeom>
          <a:solidFill>
            <a:srgbClr val="FFFFFF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7720" y="1874520"/>
            <a:ext cx="3611880" cy="14630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21945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770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02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892040" y="28803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版本碎片化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892040" y="33832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1A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Version fragmentation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92040" y="402336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多台電腦版本不一致，輸出結果與支援都會受影響。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Version drift across PCs impacts output and support.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458200" y="1874520"/>
            <a:ext cx="3611880" cy="4434840"/>
          </a:xfrm>
          <a:prstGeom prst="roundRect">
            <a:avLst>
              <a:gd name="adj" fmla="val 1772"/>
            </a:avLst>
          </a:prstGeom>
          <a:solidFill>
            <a:srgbClr val="FFFFFF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58200" y="1874520"/>
            <a:ext cx="3611880" cy="14630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32520" y="21945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770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03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8732520" y="28803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通用切片器硬套牙科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732520" y="33832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1A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Generic slicer forced into dental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732520" y="402336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缺乏牙科專用模式與自動化，流程繁瑣、容易出錯。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No dental-specific modes or automation — tedious and error-prone.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93776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96112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PHROZENSTUDIO DENTAL　SOLUTION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我們的解法　Our Solution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9224" y="129844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PhrozenStudio Dental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1292840" y="457200"/>
            <a:ext cx="566928" cy="402336"/>
          </a:xfrm>
          <a:prstGeom prst="roundRect">
            <a:avLst>
              <a:gd name="adj" fmla="val 18182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92840" y="457200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04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1874520"/>
            <a:ext cx="3611880" cy="4434840"/>
          </a:xfrm>
          <a:prstGeom prst="roundRect">
            <a:avLst>
              <a:gd name="adj" fmla="val 1772"/>
            </a:avLst>
          </a:prstGeom>
          <a:solidFill>
            <a:srgbClr val="FFFFFF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874520"/>
            <a:ext cx="3611880" cy="146304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21945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9F6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01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051560" y="28803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牙科專用流程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51560" y="33832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1A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Dental-specific workflow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51560" y="402336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內建牙模、C&amp;B、Splint、Surgical Guide，選樹脂自動帶入。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Built-in dental modes; resin selection auto-applies the mode.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17720" y="1874520"/>
            <a:ext cx="3611880" cy="4434840"/>
          </a:xfrm>
          <a:prstGeom prst="roundRect">
            <a:avLst>
              <a:gd name="adj" fmla="val 1772"/>
            </a:avLst>
          </a:prstGeom>
          <a:solidFill>
            <a:srgbClr val="FFFFFF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17720" y="1874520"/>
            <a:ext cx="3611880" cy="146304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21945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9F6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02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892040" y="28803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驗證機台 × 樹脂參數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892040" y="33832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1A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Validated Machine × Resin Profiles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92040" y="402336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500+ 組已驗證，開箱即用、結果穩定。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500+ validated profiles; ready out-of-the-box, stable results.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458200" y="1874520"/>
            <a:ext cx="3611880" cy="4434840"/>
          </a:xfrm>
          <a:prstGeom prst="roundRect">
            <a:avLst>
              <a:gd name="adj" fmla="val 1772"/>
            </a:avLst>
          </a:prstGeom>
          <a:solidFill>
            <a:srgbClr val="FFFFFF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58200" y="1874520"/>
            <a:ext cx="3611880" cy="146304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32520" y="21945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9F6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03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8732520" y="28803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一致的使用體驗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732520" y="33832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1A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Consistent UX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732520" y="402336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降低教育與客服成本；新人快速上手。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Lower training and support costs; new staff onboards quickly.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93776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96112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PHROZENSTUDIO DENTAL　ARCHITECTURE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架構：雲端 + 本地混合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9224" y="129844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Cloud + Local Hybrid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1292840" y="457200"/>
            <a:ext cx="566928" cy="402336"/>
          </a:xfrm>
          <a:prstGeom prst="roundRect">
            <a:avLst>
              <a:gd name="adj" fmla="val 18182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92840" y="457200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05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" y="3200400"/>
            <a:ext cx="2834640" cy="1097280"/>
          </a:xfrm>
          <a:prstGeom prst="roundRect">
            <a:avLst>
              <a:gd name="adj" fmla="val 5833"/>
            </a:avLst>
          </a:prstGeom>
          <a:solidFill>
            <a:srgbClr val="EAF0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200400"/>
            <a:ext cx="2834640" cy="10972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使用者　User</a:t>
            </a:r>
            <a:endParaRPr lang="en-US" sz="13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瀏覽器 Browser UI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0" y="2194560"/>
            <a:ext cx="2697480" cy="1417320"/>
          </a:xfrm>
          <a:prstGeom prst="roundRect">
            <a:avLst>
              <a:gd name="adj" fmla="val 4516"/>
            </a:avLst>
          </a:prstGeom>
          <a:solidFill>
            <a:srgbClr val="FBEFD9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2194560"/>
            <a:ext cx="2697480" cy="1417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A8650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雲端　Cloud</a:t>
            </a:r>
            <a:endParaRPr lang="en-US" sz="13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模型 / 切片檔儲存　Model / slice files</a:t>
            </a:r>
            <a:endParaRPr lang="en-US" sz="13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帳號系統 Accounts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89120" y="4160520"/>
            <a:ext cx="2697480" cy="1417320"/>
          </a:xfrm>
          <a:prstGeom prst="roundRect">
            <a:avLst>
              <a:gd name="adj" fmla="val 4516"/>
            </a:avLst>
          </a:prstGeom>
          <a:solidFill>
            <a:srgbClr val="E4F6EF"/>
          </a:solidFill>
          <a:ln w="15875">
            <a:solidFill>
              <a:srgbClr val="0E9F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0" y="4160520"/>
            <a:ext cx="2697480" cy="1417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0A7F5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本地 Agent　Local Agent</a:t>
            </a:r>
            <a:endParaRPr lang="en-US" sz="13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切片重運算</a:t>
            </a:r>
            <a:endParaRPr lang="en-US" sz="13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Heavy compute on-device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 flipV="1">
            <a:off x="3703320" y="2903220"/>
            <a:ext cx="685800" cy="845820"/>
          </a:xfrm>
          <a:prstGeom prst="line">
            <a:avLst/>
          </a:prstGeom>
          <a:noFill/>
          <a:ln w="19050">
            <a:solidFill>
              <a:srgbClr val="8A93A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703320" y="3749040"/>
            <a:ext cx="685800" cy="1120140"/>
          </a:xfrm>
          <a:prstGeom prst="line">
            <a:avLst/>
          </a:prstGeom>
          <a:noFill/>
          <a:ln w="19050">
            <a:solidFill>
              <a:srgbClr val="8A93A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818120" y="2404872"/>
            <a:ext cx="182880" cy="1828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38160" y="224028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雲端：模型 / 切片檔儲存 + 帳號系統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138160" y="2651760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支援團隊協作、版本統一管理。Storage &amp; accounts on the cloud.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818120" y="3776472"/>
            <a:ext cx="182880" cy="182880"/>
          </a:xfrm>
          <a:prstGeom prst="ellipse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8160" y="361188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本地 Agent：切片重運算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138160" y="4023360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速度快、不佔雲端成本、原始資料留在本地。Compute stays on-device.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818120" y="5193792"/>
            <a:ext cx="182880" cy="1828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38160" y="502920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兼顧效率、成本與資料掌控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138160" y="5440680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Best of both worlds — efficient, affordable, sovereign.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93776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96112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PHROZENSTUDIO DENTAL　DENTAL-FOCUSED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不是通用切片器，是牙科專用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9224" y="129844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Dental-specific, not generic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1292840" y="457200"/>
            <a:ext cx="566928" cy="402336"/>
          </a:xfrm>
          <a:prstGeom prst="roundRect">
            <a:avLst>
              <a:gd name="adj" fmla="val 18182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92840" y="457200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" y="1975104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4440" y="182880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內建牙科模式　Built-in dental modes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234440" y="215798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牙模 Dental Model · 臨時牙冠 / 牙橋 C&amp;B · 咬合板 Splint · 手術導板 Surgical Guide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68680" y="2633472"/>
            <a:ext cx="201168" cy="201168"/>
          </a:xfrm>
          <a:prstGeom prst="ellipse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2487168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各模式自帶自動化　Per-mode automation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234440" y="28163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對應的自動定位與處理流程，減少人工步驟。 Auto-orient and processing per mode — fewer manual steps.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68680" y="3291840"/>
            <a:ext cx="201168" cy="20116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34440" y="3145536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選樹脂自動帶模式　Resin → Mode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234440" y="3474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少手動、少出錯；流程一致、結果穩定。 Less manual work, fewer errors; consistent results.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77240" y="4206240"/>
            <a:ext cx="260604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4206240"/>
            <a:ext cx="109728" cy="2286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437083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牙模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51560" y="4846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Dental Model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51560" y="534924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隱形牙套模具 + 一般診斷模型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Aligner molds + diagnostic models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11880" y="4206240"/>
            <a:ext cx="260604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9050">
            <a:solidFill>
              <a:srgbClr val="0E9F6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11880" y="4206240"/>
            <a:ext cx="109728" cy="2286000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86200" y="437083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臨時牙冠 / 牙橋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886200" y="4846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F6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C&amp;B (Temp.)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886200" y="534924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正式假牙前暫時保護磨好的牙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Temporary protection of prepared teeth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46520" y="4206240"/>
            <a:ext cx="260604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46520" y="4206240"/>
            <a:ext cx="109728" cy="2286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20840" y="437083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咬合板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720840" y="4846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Splint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720840" y="534924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口內長期防護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咬合力分散、咬合穩定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Long-term occlusal protection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281160" y="4206240"/>
            <a:ext cx="260604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281160" y="4206240"/>
            <a:ext cx="109728" cy="2286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555480" y="437083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手術導板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555480" y="4846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Surgical Guide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555480" y="534924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鑽針位置 / 角度 / 深度引導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Drill position / angle / depth guide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93776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96112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PHROZENSTUDIO DENTAL　MACHINE LINEUP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機台陣容　Machine Lineup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1292840" y="457200"/>
            <a:ext cx="566928" cy="402336"/>
          </a:xfrm>
          <a:prstGeom prst="roundRect">
            <a:avLst>
              <a:gd name="adj" fmla="val 18182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92840" y="457200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07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83080"/>
          <a:ext cx="10634472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2743200"/>
                <a:gridCol w="2011680"/>
                <a:gridCol w="222199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機台 Model</a:t>
                      </a:r>
                      <a:endParaRPr lang="en-US" sz="12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14300" marR="114300" marT="38100" marB="381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載台大小 (mm) Build Size</a:t>
                      </a:r>
                      <a:endParaRPr lang="en-US" sz="12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14300" marR="114300" marT="38100" marB="381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解析度 (px) Resolution</a:t>
                      </a:r>
                      <a:endParaRPr lang="en-US" sz="12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14300" marR="114300" marT="38100" marB="381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備註 Notes</a:t>
                      </a:r>
                      <a:endParaRPr lang="en-US" sz="12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14300" marR="114300" marT="38100" marB="381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Sonic 4K 2022</a:t>
                      </a:r>
                      <a:endParaRPr lang="en-US" sz="11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14300" marR="114300" marT="38100" marB="381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134.4 × 75.6 × 200</a:t>
                      </a:r>
                      <a:endParaRPr lang="en-US" sz="11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14300" marR="114300" marT="38100" marB="381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3840 × 2160</a:t>
                      </a:r>
                      <a:endParaRPr lang="en-US" sz="11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14300" marR="114300" marT="38100" marB="381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14300" marR="114300" marT="38100" marB="381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Sonic XL 4K</a:t>
                      </a:r>
                      <a:endParaRPr lang="en-US" sz="11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14300" marR="114300" marT="38100" marB="381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192 × 120 × 200</a:t>
                      </a:r>
                      <a:endParaRPr lang="en-US" sz="11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14300" marR="114300" marT="38100" marB="381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3840 × 2400</a:t>
                      </a:r>
                      <a:endParaRPr lang="en-US" sz="11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14300" marR="114300" marT="38100" marB="381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14300" marR="114300" marT="38100" marB="381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Sonic XL 4K 2022</a:t>
                      </a:r>
                      <a:endParaRPr lang="en-US" sz="11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14300" marR="114300" marT="38100" marB="381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199.68 × 124.8 × 200</a:t>
                      </a:r>
                      <a:endParaRPr lang="en-US" sz="11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14300" marR="114300" marT="38100" marB="381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3840 × 2400</a:t>
                      </a:r>
                      <a:endParaRPr lang="en-US" sz="11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14300" marR="114300" marT="38100" marB="381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14300" marR="114300" marT="38100" marB="381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Sonic XL 4K Plus</a:t>
                      </a:r>
                      <a:endParaRPr lang="en-US" sz="11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14300" marR="114300" marT="38100" marB="381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199.68 × 124.8 × 200</a:t>
                      </a:r>
                      <a:endParaRPr lang="en-US" sz="11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14300" marR="114300" marT="38100" marB="381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3840 × 2400</a:t>
                      </a:r>
                      <a:endParaRPr lang="en-US" sz="11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14300" marR="114300" marT="38100" marB="381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14300" marR="114300" marT="38100" marB="381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Lumii DLP 2K</a:t>
                      </a:r>
                      <a:endParaRPr lang="en-US" sz="11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14300" marR="114300" marT="38100" marB="381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130 × 73 × 160</a:t>
                      </a:r>
                      <a:endParaRPr lang="en-US" sz="11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14300" marR="114300" marT="38100" marB="381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2560 × 1440</a:t>
                      </a:r>
                      <a:endParaRPr lang="en-US" sz="11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14300" marR="114300" marT="38100" marB="381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rgbClr val="6B728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另有 Mini Plate</a:t>
                      </a:r>
                      <a:endParaRPr lang="en-US" sz="10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14300" marR="114300" marT="38100" marB="381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Lumii DLP 2K Mini Plate</a:t>
                      </a:r>
                      <a:endParaRPr lang="en-US" sz="11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14300" marR="114300" marT="38100" marB="381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130 × 73 × 160</a:t>
                      </a:r>
                      <a:endParaRPr lang="en-US" sz="11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14300" marR="114300" marT="38100" marB="381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2560 × 1440</a:t>
                      </a:r>
                      <a:endParaRPr lang="en-US" sz="11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14300" marR="114300" marT="38100" marB="381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rgbClr val="6B728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小平台：省料 / 小批量</a:t>
                      </a:r>
                      <a:endParaRPr lang="en-US" sz="10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14300" marR="114300" marT="38100" marB="381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Sonic CS+</a:t>
                      </a:r>
                      <a:endParaRPr lang="en-US" sz="11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14300" marR="114300" marT="38100" marB="381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165.79 × 71.28 × 175</a:t>
                      </a:r>
                      <a:endParaRPr lang="en-US" sz="11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14300" marR="114300" marT="38100" marB="381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7536 × 3240</a:t>
                      </a:r>
                      <a:endParaRPr lang="en-US" sz="11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14300" marR="114300" marT="38100" marB="381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rgbClr val="6B728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另有 Mini Plate</a:t>
                      </a:r>
                      <a:endParaRPr lang="en-US" sz="10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14300" marR="114300" marT="38100" marB="381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Sonic CS+ Mini Plate</a:t>
                      </a:r>
                      <a:endParaRPr lang="en-US" sz="11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14300" marR="114300" marT="38100" marB="381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165.79 × 71.28 × 175</a:t>
                      </a:r>
                      <a:endParaRPr lang="en-US" sz="11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14300" marR="114300" marT="38100" marB="381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7536 × 3240</a:t>
                      </a:r>
                      <a:endParaRPr lang="en-US" sz="11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14300" marR="114300" marT="38100" marB="381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rgbClr val="6B728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小平台：省料 / 小批量</a:t>
                      </a:r>
                      <a:endParaRPr lang="en-US" sz="10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14300" marR="114300" marT="38100" marB="381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Sonic LS+ Standard Plate</a:t>
                      </a:r>
                      <a:endParaRPr lang="en-US" sz="11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14300" marR="114300" marT="38100" marB="381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195.84 × 122.4 × 175</a:t>
                      </a:r>
                      <a:endParaRPr lang="en-US" sz="11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14300" marR="114300" marT="38100" marB="381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5760 × 3600</a:t>
                      </a:r>
                      <a:endParaRPr lang="en-US" sz="11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14300" marR="114300" marT="38100" marB="381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rgbClr val="6B728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另有 Large Plate</a:t>
                      </a:r>
                      <a:endParaRPr lang="en-US" sz="10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14300" marR="114300" marT="38100" marB="381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Sonic LS+ Large Plate</a:t>
                      </a:r>
                      <a:endParaRPr lang="en-US" sz="11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14300" marR="114300" marT="38100" marB="381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195.84 × 122.4 × 175</a:t>
                      </a:r>
                      <a:endParaRPr lang="en-US" sz="11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14300" marR="114300" marT="38100" marB="381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5760 × 3600</a:t>
                      </a:r>
                      <a:endParaRPr lang="en-US" sz="11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14300" marR="114300" marT="38100" marB="381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rgbClr val="6B728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大平台：更大批次</a:t>
                      </a:r>
                      <a:endParaRPr lang="en-US" sz="10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14300" marR="114300" marT="38100" marB="381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Sonic Mighty Revo 14K</a:t>
                      </a:r>
                      <a:endParaRPr lang="en-US" sz="11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14300" marR="114300" marT="38100" marB="381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223.78 × 126.98 × 235</a:t>
                      </a:r>
                      <a:endParaRPr lang="en-US" sz="11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14300" marR="114300" marT="38100" marB="381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13320 × 5120</a:t>
                      </a:r>
                      <a:endParaRPr lang="en-US" sz="11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14300" marR="114300" marT="38100" marB="381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14300" marR="114300" marT="38100" marB="381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Sonic Mini 8K S</a:t>
                      </a:r>
                      <a:endParaRPr lang="en-US" sz="11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14300" marR="114300" marT="38100" marB="381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165.79 × 71.28 × 170</a:t>
                      </a:r>
                      <a:endParaRPr lang="en-US" sz="11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14300" marR="114300" marT="38100" marB="381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7536 × 3240</a:t>
                      </a:r>
                      <a:endParaRPr lang="en-US" sz="11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14300" marR="114300" marT="38100" marB="381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14300" marR="114300" marT="38100" marB="381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93776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96112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PHROZENSTUDIO DENTAL　RESIN ECOSYSTEM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樹脂生態　Resin Ecosystem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1292840" y="457200"/>
            <a:ext cx="566928" cy="402336"/>
          </a:xfrm>
          <a:prstGeom prst="roundRect">
            <a:avLst>
              <a:gd name="adj" fmla="val 18182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92840" y="457200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08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874520"/>
            <a:ext cx="4114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D9770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500+</a:t>
            </a:r>
            <a:endParaRPr lang="en-US" sz="12000" dirty="0"/>
          </a:p>
        </p:txBody>
      </p:sp>
      <p:sp>
        <p:nvSpPr>
          <p:cNvPr id="8" name="Text 6"/>
          <p:cNvSpPr/>
          <p:nvPr/>
        </p:nvSpPr>
        <p:spPr>
          <a:xfrm>
            <a:off x="777240" y="4251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組樹脂參數檔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46177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Resin Profiles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120640" y="19202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涵蓋 Phrozen Dental 自家與第三方品牌　Phrozen Dental + 3rd-party brands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120640" y="2468880"/>
            <a:ext cx="1517904" cy="384048"/>
          </a:xfrm>
          <a:prstGeom prst="roundRect">
            <a:avLst>
              <a:gd name="adj" fmla="val 16667"/>
            </a:avLst>
          </a:prstGeom>
          <a:solidFill>
            <a:srgbClr val="EAF0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0" y="2468880"/>
            <a:ext cx="151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Phrozen Dental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748272" y="2468880"/>
            <a:ext cx="1517904" cy="384048"/>
          </a:xfrm>
          <a:prstGeom prst="roundRect">
            <a:avLst>
              <a:gd name="adj" fmla="val 16667"/>
            </a:avLst>
          </a:prstGeom>
          <a:solidFill>
            <a:srgbClr val="EAF0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48272" y="2468880"/>
            <a:ext cx="151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BEGO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375904" y="2468880"/>
            <a:ext cx="1517904" cy="384048"/>
          </a:xfrm>
          <a:prstGeom prst="roundRect">
            <a:avLst>
              <a:gd name="adj" fmla="val 16667"/>
            </a:avLst>
          </a:prstGeom>
          <a:solidFill>
            <a:srgbClr val="EAF0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75904" y="2468880"/>
            <a:ext cx="151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Detax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003536" y="2468880"/>
            <a:ext cx="1517904" cy="384048"/>
          </a:xfrm>
          <a:prstGeom prst="roundRect">
            <a:avLst>
              <a:gd name="adj" fmla="val 16667"/>
            </a:avLst>
          </a:prstGeom>
          <a:solidFill>
            <a:srgbClr val="EAF0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03536" y="2468880"/>
            <a:ext cx="151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NextDent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120640" y="2971800"/>
            <a:ext cx="1517904" cy="384048"/>
          </a:xfrm>
          <a:prstGeom prst="roundRect">
            <a:avLst>
              <a:gd name="adj" fmla="val 16667"/>
            </a:avLst>
          </a:prstGeom>
          <a:solidFill>
            <a:srgbClr val="EAF0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2971800"/>
            <a:ext cx="151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Dentona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748272" y="2971800"/>
            <a:ext cx="1517904" cy="384048"/>
          </a:xfrm>
          <a:prstGeom prst="roundRect">
            <a:avLst>
              <a:gd name="adj" fmla="val 16667"/>
            </a:avLst>
          </a:prstGeom>
          <a:solidFill>
            <a:srgbClr val="EAF0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48272" y="2971800"/>
            <a:ext cx="151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Aidite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375904" y="2971800"/>
            <a:ext cx="1517904" cy="384048"/>
          </a:xfrm>
          <a:prstGeom prst="roundRect">
            <a:avLst>
              <a:gd name="adj" fmla="val 16667"/>
            </a:avLst>
          </a:prstGeom>
          <a:solidFill>
            <a:srgbClr val="EAF0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75904" y="2971800"/>
            <a:ext cx="151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Dreve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120640" y="3703320"/>
            <a:ext cx="6400800" cy="1005840"/>
          </a:xfrm>
          <a:prstGeom prst="roundRect">
            <a:avLst>
              <a:gd name="adj" fmla="val 6364"/>
            </a:avLst>
          </a:prstGeom>
          <a:solidFill>
            <a:srgbClr val="E4F6EF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0" y="3703320"/>
            <a:ext cx="6126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0A7F5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每組已驗證　Validated profiles　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層高、曝光、抬升、收縮補償、機台 GCode 全部對齊機台與材料。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Layer height, exposure, lift, shrinkage compensation &amp; GCode all aligned per machine + material.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93776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96112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PHROZENSTUDIO DENTAL　DENTAL MODES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牙科模式　Dental Modes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1292840" y="457200"/>
            <a:ext cx="566928" cy="402336"/>
          </a:xfrm>
          <a:prstGeom prst="roundRect">
            <a:avLst>
              <a:gd name="adj" fmla="val 18182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92840" y="457200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09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828800"/>
          <a:ext cx="10634472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6062472"/>
              </a:tblGrid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模式 Mode</a:t>
                      </a:r>
                      <a:endParaRPr lang="en-US" sz="12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52400" marR="152400" marT="50800" marB="508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用途 Use Case</a:t>
                      </a:r>
                      <a:endParaRPr lang="en-US" sz="12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52400" marR="152400" marT="50800" marB="508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Dental Model　牙模（預設 Default）</a:t>
                      </a:r>
                      <a:endParaRPr lang="en-US" sz="12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52400" marR="152400" marT="50800" marB="508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隱形牙套實體模具 + 一般診斷模型　Aligner molds + diagnostic models</a:t>
                      </a:r>
                      <a:endParaRPr lang="en-US" sz="12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52400" marR="152400" marT="50800" marB="508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C&amp;B　臨時牙冠 / 牙橋</a:t>
                      </a:r>
                      <a:endParaRPr lang="en-US" sz="12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52400" marR="152400" marT="50800" marB="508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正式假牙前暫時保護磨好的牙　Temporary protection of prepared teeth</a:t>
                      </a:r>
                      <a:endParaRPr lang="en-US" sz="12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52400" marR="152400" marT="50800" marB="508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Splint　咬合板</a:t>
                      </a:r>
                      <a:endParaRPr lang="en-US" sz="12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52400" marR="152400" marT="50800" marB="508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口內長期防護:咬合力分散、咬合穩定　Long-term occlusal protection</a:t>
                      </a:r>
                      <a:endParaRPr lang="en-US" sz="12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52400" marR="152400" marT="50800" marB="508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Surgical Guide　手術導板</a:t>
                      </a:r>
                      <a:endParaRPr lang="en-US" sz="12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52400" marR="152400" marT="50800" marB="508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引導鑽針位置 / 角度 / 深度,避開神經　Implant drill guidance</a:t>
                      </a:r>
                      <a:endParaRPr lang="en-US" sz="12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52400" marR="152400" marT="50800" marB="508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777240" y="49834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· 模式由所選樹脂自動帶入　Mode auto-applied via resin selection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93776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96112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PHROZENSTUDIO DENTAL　PER-MODE PROCESSING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四模式處理流程　Per-Mode Processing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9224" y="129844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切片軟體中，各模式的處理動作與差異化禁區　In the slicer: per-mode processing and exclusion zones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1292840" y="457200"/>
            <a:ext cx="566928" cy="402336"/>
          </a:xfrm>
          <a:prstGeom prst="roundRect">
            <a:avLst>
              <a:gd name="adj" fmla="val 18182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92840" y="457200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10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1783080"/>
            <a:ext cx="516636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783080"/>
            <a:ext cx="5166360" cy="1280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203911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039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①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08760" y="203911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Dental Model 牙模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08760" y="235000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隱形牙套用模具 + 一般診斷　Aligner molds + diagnostic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05840" y="26974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AA1A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處理 / Process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828800" y="269748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Orientation → Base → 填充 → 壓字 → Slice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051560" y="3081528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Base：他院 STL 未帶底座 → 一鍵補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One-click base for headless STL</a:t>
            </a:r>
            <a:endParaRPr lang="en-US" sz="10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壓字 Tagging：患者 ID + 階段序號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Tagging: patient ID + stage number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08192" y="1783080"/>
            <a:ext cx="516636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08192" y="1783080"/>
            <a:ext cx="5166360" cy="128016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36792" y="203911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2039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②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39712" y="203911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C&amp;B 臨時牙冠 / 牙橋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39712" y="235000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9F6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椅旁急件　Chairside urgent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336792" y="26974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AA1A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處理 / Process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159752" y="269748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Orientation → 支撐（避禁區）→ Slice（急件）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382512" y="3081528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支撐禁區：咬合面 + 鄰接面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Support exclusion: occlusal + proximal</a:t>
            </a:r>
            <a:endParaRPr lang="en-US" sz="10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不在牙冠本體壓字 → 工單 / 托盤標示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No crown tagging — work order / tray label</a:t>
            </a:r>
            <a:endParaRPr lang="en-US" sz="10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椅旁急件：45 分–1 小時 目標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Chairside rush: 45 min–1 hr target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77240" y="4160520"/>
            <a:ext cx="516636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4160520"/>
            <a:ext cx="5166360" cy="12801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05840" y="441655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5840" y="4416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③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508760" y="441655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Splint 咬合板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508760" y="472744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口內長期防護板　Long-term oral protection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05840" y="50749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AA1A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處理 / Process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828800" y="507492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Orientation → 支撐（避禁區）→ 壓字 → Slice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051560" y="5458968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支撐禁區：咬合面 + 內面就位區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Support exclusion: occlusal + fitting surface</a:t>
            </a:r>
            <a:endParaRPr lang="en-US" sz="10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壓字位置：外側非就位面；透明樹脂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Tag: outer non-fitting; clear resin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08192" y="4160520"/>
            <a:ext cx="516636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08192" y="4160520"/>
            <a:ext cx="5166360" cy="12801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36792" y="441655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36792" y="4416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④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839712" y="441655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Surgical Guide 手術導板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839712" y="472744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植牙鑽孔引導　Implant drill guidance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336792" y="50749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AA1A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處理 / Process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7159752" y="507492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Orientation → 支撐（避禁區）→ 標籤 → Slice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382512" y="5458968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支撐禁區：套環孔 + 就位面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Support exclusion: sleeve + fitting surface</a:t>
            </a:r>
            <a:endParaRPr lang="en-US" sz="10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壓字：患者 + 牙位 (FDI) + 左右 R/L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Tag: patient + FDI tooth # + L/R</a:t>
            </a:r>
            <a:endParaRPr lang="en-US" sz="10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列印後置入金屬定位環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Insert metal sleeves after print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93776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96112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PHROZENSTUDIO DENTAL　FEATURE MAP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功能地圖　Feature Map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1292840" y="457200"/>
            <a:ext cx="566928" cy="402336"/>
          </a:xfrm>
          <a:prstGeom prst="roundRect">
            <a:avLst>
              <a:gd name="adj" fmla="val 18182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92840" y="457200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7240" y="1828800"/>
            <a:ext cx="347472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828800"/>
            <a:ext cx="3474720" cy="1280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1031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匯入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250545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Import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05840" y="288036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多格式 STL / OBJ / 3MF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多模型 Multi-model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434840" y="1828800"/>
            <a:ext cx="347472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34840" y="1828800"/>
            <a:ext cx="3474720" cy="128016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21031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定位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63440" y="250545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9F6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Orientation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663440" y="288036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自動定位 Auto-Orient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（牙模瀏覽器、導板本地引擎）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92440" y="1828800"/>
            <a:ext cx="347472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92440" y="1828800"/>
            <a:ext cx="3474720" cy="12801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21040" y="21031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牙科處理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21040" y="250545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Dental Processing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321040" y="288036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挖空 Hollowing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排水孔 + 蜂巢 Drain + Hex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鑽孔 Drilling · 切平 / 底部 Base &amp; Cut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77240" y="4114800"/>
            <a:ext cx="347472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" y="4114800"/>
            <a:ext cx="3474720" cy="12801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" y="43891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編輯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005840" y="479145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Editing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005840" y="516636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文字刻字 Text Emboss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支撐 Support · 剖面 Clipping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面選取 Face selection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434840" y="4114800"/>
            <a:ext cx="347472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34840" y="4114800"/>
            <a:ext cx="3474720" cy="128016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43891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輔助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663440" y="479145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Assistance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663440" y="516636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超界標示 Out-of-bounds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復原重做 Undo / Redo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092440" y="4114800"/>
            <a:ext cx="347472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92440" y="4114800"/>
            <a:ext cx="3474720" cy="128016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21040" y="43891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輸出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321040" y="479145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Output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321040" y="516636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逐層預覽 Layer Preview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預估時間 / 樹脂量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PRZ 匯出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93776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96112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PHROZENSTUDIO DENTAL　WORKFLOW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一條龍流程　Workflow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9224" y="129844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從匯入到輸出 PRZ　Import to Export PRZ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1292840" y="457200"/>
            <a:ext cx="566928" cy="402336"/>
          </a:xfrm>
          <a:prstGeom prst="roundRect">
            <a:avLst>
              <a:gd name="adj" fmla="val 18182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92840" y="457200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12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0908" y="3017520"/>
            <a:ext cx="1188720" cy="1554480"/>
          </a:xfrm>
          <a:prstGeom prst="roundRect">
            <a:avLst>
              <a:gd name="adj" fmla="val 5385"/>
            </a:avLst>
          </a:prstGeom>
          <a:solidFill>
            <a:srgbClr val="EAF0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90676" y="3108960"/>
            <a:ext cx="329184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90676" y="3108960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0908" y="349300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匯入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0908" y="40233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Import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186788" y="3017520"/>
            <a:ext cx="1188720" cy="1554480"/>
          </a:xfrm>
          <a:prstGeom prst="roundRect">
            <a:avLst>
              <a:gd name="adj" fmla="val 5385"/>
            </a:avLst>
          </a:prstGeom>
          <a:solidFill>
            <a:srgbClr val="EAF0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16556" y="3108960"/>
            <a:ext cx="329184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16556" y="3108960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86788" y="349300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選樹脂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186788" y="40233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Resin → Mode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512668" y="3017520"/>
            <a:ext cx="1188720" cy="1554480"/>
          </a:xfrm>
          <a:prstGeom prst="roundRect">
            <a:avLst>
              <a:gd name="adj" fmla="val 5385"/>
            </a:avLst>
          </a:prstGeom>
          <a:solidFill>
            <a:srgbClr val="EAF0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942436" y="3108960"/>
            <a:ext cx="329184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42436" y="3108960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512668" y="349300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自動定位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512668" y="40233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Auto-Orient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38548" y="3017520"/>
            <a:ext cx="1188720" cy="1554480"/>
          </a:xfrm>
          <a:prstGeom prst="roundRect">
            <a:avLst>
              <a:gd name="adj" fmla="val 5385"/>
            </a:avLst>
          </a:prstGeom>
          <a:solidFill>
            <a:srgbClr val="EAF0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268316" y="3108960"/>
            <a:ext cx="329184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68316" y="3108960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38548" y="349300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牙科處理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38548" y="40233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Processing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164428" y="3017520"/>
            <a:ext cx="1188720" cy="1554480"/>
          </a:xfrm>
          <a:prstGeom prst="roundRect">
            <a:avLst>
              <a:gd name="adj" fmla="val 5385"/>
            </a:avLst>
          </a:prstGeom>
          <a:solidFill>
            <a:srgbClr val="EAF0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94196" y="3108960"/>
            <a:ext cx="329184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94196" y="3108960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164428" y="349300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支撐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164428" y="40233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Support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490308" y="3017520"/>
            <a:ext cx="1188720" cy="1554480"/>
          </a:xfrm>
          <a:prstGeom prst="roundRect">
            <a:avLst>
              <a:gd name="adj" fmla="val 5385"/>
            </a:avLst>
          </a:prstGeom>
          <a:solidFill>
            <a:srgbClr val="EAF0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920076" y="3108960"/>
            <a:ext cx="329184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920076" y="3108960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6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490308" y="349300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切片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490308" y="40233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Slice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816188" y="3017520"/>
            <a:ext cx="1188720" cy="1554480"/>
          </a:xfrm>
          <a:prstGeom prst="roundRect">
            <a:avLst>
              <a:gd name="adj" fmla="val 5385"/>
            </a:avLst>
          </a:prstGeom>
          <a:solidFill>
            <a:srgbClr val="EAF0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245956" y="3108960"/>
            <a:ext cx="329184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245956" y="3108960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7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816188" y="349300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逐層預覽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8816188" y="40233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Preview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10142068" y="3017520"/>
            <a:ext cx="1188720" cy="1554480"/>
          </a:xfrm>
          <a:prstGeom prst="roundRect">
            <a:avLst>
              <a:gd name="adj" fmla="val 5385"/>
            </a:avLst>
          </a:prstGeom>
          <a:solidFill>
            <a:srgbClr val="EAF0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571836" y="3108960"/>
            <a:ext cx="329184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571836" y="3108960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8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10142068" y="349300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輸出 PRZ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10142068" y="40233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Export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049628" y="3794760"/>
            <a:ext cx="137160" cy="0"/>
          </a:xfrm>
          <a:prstGeom prst="line">
            <a:avLst/>
          </a:prstGeom>
          <a:noFill/>
          <a:ln w="19050">
            <a:solidFill>
              <a:srgbClr val="8A93A0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3375508" y="3794760"/>
            <a:ext cx="137160" cy="0"/>
          </a:xfrm>
          <a:prstGeom prst="line">
            <a:avLst/>
          </a:prstGeom>
          <a:noFill/>
          <a:ln w="19050">
            <a:solidFill>
              <a:srgbClr val="8A93A0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4701388" y="3794760"/>
            <a:ext cx="137160" cy="0"/>
          </a:xfrm>
          <a:prstGeom prst="line">
            <a:avLst/>
          </a:prstGeom>
          <a:noFill/>
          <a:ln w="19050">
            <a:solidFill>
              <a:srgbClr val="8A93A0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6027268" y="3794760"/>
            <a:ext cx="137160" cy="0"/>
          </a:xfrm>
          <a:prstGeom prst="line">
            <a:avLst/>
          </a:prstGeom>
          <a:noFill/>
          <a:ln w="19050">
            <a:solidFill>
              <a:srgbClr val="8A93A0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7353148" y="3794760"/>
            <a:ext cx="137160" cy="0"/>
          </a:xfrm>
          <a:prstGeom prst="line">
            <a:avLst/>
          </a:prstGeom>
          <a:noFill/>
          <a:ln w="19050">
            <a:solidFill>
              <a:srgbClr val="8A93A0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8679028" y="3794760"/>
            <a:ext cx="137160" cy="0"/>
          </a:xfrm>
          <a:prstGeom prst="line">
            <a:avLst/>
          </a:prstGeom>
          <a:noFill/>
          <a:ln w="19050">
            <a:solidFill>
              <a:srgbClr val="8A93A0"/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10004908" y="3794760"/>
            <a:ext cx="137160" cy="0"/>
          </a:xfrm>
          <a:prstGeom prst="line">
            <a:avLst/>
          </a:prstGeom>
          <a:noFill/>
          <a:ln w="19050">
            <a:solidFill>
              <a:srgbClr val="8A93A0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860908" y="5029200"/>
            <a:ext cx="10469880" cy="868680"/>
          </a:xfrm>
          <a:prstGeom prst="roundRect">
            <a:avLst>
              <a:gd name="adj" fmla="val 7368"/>
            </a:avLst>
          </a:prstGeom>
          <a:solidFill>
            <a:srgbClr val="F3EFFB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62076" y="5029200"/>
            <a:ext cx="100675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5B27B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一條龍流程 / One-stop　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選樹脂自動帶模式，每一步都有牙科專用自動化 ── 從匯入到輸出 PRZ 一氣呵成。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Pick resin → auto-mode; dental-specific automation at every step — from import to PRZ in one flow.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93776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96112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PHROZENSTUDIO DENTAL　PRINT PARAMETERS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列印參數　Print Parameters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1292840" y="457200"/>
            <a:ext cx="566928" cy="402336"/>
          </a:xfrm>
          <a:prstGeom prst="roundRect">
            <a:avLst>
              <a:gd name="adj" fmla="val 18182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92840" y="457200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87452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0E9F6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47+</a:t>
            </a:r>
            <a:endParaRPr lang="en-US" sz="12000" dirty="0"/>
          </a:p>
        </p:txBody>
      </p:sp>
      <p:sp>
        <p:nvSpPr>
          <p:cNvPr id="8" name="Text 6"/>
          <p:cNvSpPr/>
          <p:nvPr/>
        </p:nvSpPr>
        <p:spPr>
          <a:xfrm>
            <a:off x="777240" y="42519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可調參數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4617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Tunable Parameters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50292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· 多數情況不需動 ── 來自驗證樹脂檔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Rarely tuned; auto from validated profiles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0" y="1920240"/>
            <a:ext cx="320040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0" y="1920240"/>
            <a:ext cx="128016" cy="1325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21808" y="212140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曝光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21808" y="2578608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Exposure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366760" y="1920240"/>
            <a:ext cx="320040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66760" y="1920240"/>
            <a:ext cx="128016" cy="1325880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59368" y="212140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運動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59368" y="2578608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Motion · 抬升 / 回程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0" y="3383280"/>
            <a:ext cx="320040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0" y="3383280"/>
            <a:ext cx="128016" cy="1325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21808" y="358444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進階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21808" y="4041648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Advanced · PWM / 灰階 / 補償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366760" y="3383280"/>
            <a:ext cx="320040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66760" y="3383280"/>
            <a:ext cx="128016" cy="1325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59368" y="358444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機台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659368" y="4041648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GCode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77240" y="5669280"/>
            <a:ext cx="10607040" cy="914400"/>
          </a:xfrm>
          <a:prstGeom prst="roundRect">
            <a:avLst>
              <a:gd name="adj" fmla="val 7000"/>
            </a:avLst>
          </a:prstGeom>
          <a:solidFill>
            <a:srgbClr val="E4F6EF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120" y="566928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A7F5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微調時機 / When to tune　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需要提升良率時，曝光、底層、抬升、尺寸補償是最常被調整的關鍵欄位。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For yield: exposure, bottom layers, lift, and dimensional compensation are the most tuned.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93776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96112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PHROZENSTUDIO DENTAL　VALUE BY ROLE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導入價值　Value by Role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1292840" y="457200"/>
            <a:ext cx="566928" cy="402336"/>
          </a:xfrm>
          <a:prstGeom prst="roundRect">
            <a:avLst>
              <a:gd name="adj" fmla="val 18182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92840" y="457200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14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7240" y="1828800"/>
            <a:ext cx="3611880" cy="4617720"/>
          </a:xfrm>
          <a:prstGeom prst="roundRect">
            <a:avLst>
              <a:gd name="adj" fmla="val 1772"/>
            </a:avLst>
          </a:prstGeom>
          <a:solidFill>
            <a:srgbClr val="FFFFFF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828800"/>
            <a:ext cx="3611880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1945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牙技所 / 技師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51560" y="26974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Dental Labs / Technicians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069848" y="3593592"/>
            <a:ext cx="182880" cy="1828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17320" y="34290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自動化牙科流程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417320" y="37947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Automated dental workflow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069848" y="4553712"/>
            <a:ext cx="182880" cy="1828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17320" y="43891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省人工、新人易上手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417320" y="47548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Save labor; quick onboarding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069848" y="5513832"/>
            <a:ext cx="182880" cy="1828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17320" y="53492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批量處理更快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417320" y="57150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Faster batch processing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17720" y="1828800"/>
            <a:ext cx="3611880" cy="4617720"/>
          </a:xfrm>
          <a:prstGeom prst="roundRect">
            <a:avLst>
              <a:gd name="adj" fmla="val 1772"/>
            </a:avLst>
          </a:prstGeom>
          <a:solidFill>
            <a:srgbClr val="FFFFFF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17720" y="1828800"/>
            <a:ext cx="3611880" cy="146304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21945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經銷商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892040" y="26974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9F6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Distributors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910328" y="3593592"/>
            <a:ext cx="182880" cy="182880"/>
          </a:xfrm>
          <a:prstGeom prst="ellipse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57800" y="34290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零安裝降低教育 / 客服成本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257800" y="37947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Zero-install cuts training &amp; support cost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910328" y="4553712"/>
            <a:ext cx="182880" cy="182880"/>
          </a:xfrm>
          <a:prstGeom prst="ellipse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57800" y="43891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版本統一，易支援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257800" y="47548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Unified version, easier support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910328" y="5513832"/>
            <a:ext cx="182880" cy="182880"/>
          </a:xfrm>
          <a:prstGeom prst="ellipse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57800" y="53492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軟硬料一條龍好賣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257800" y="57150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SW + HW + material bundle sells well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458200" y="1828800"/>
            <a:ext cx="3611880" cy="4617720"/>
          </a:xfrm>
          <a:prstGeom prst="roundRect">
            <a:avLst>
              <a:gd name="adj" fmla="val 1772"/>
            </a:avLst>
          </a:prstGeom>
          <a:solidFill>
            <a:srgbClr val="FFFFFF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458200" y="1828800"/>
            <a:ext cx="3611880" cy="14630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732520" y="21945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資料 / IT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8732520" y="26974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Data / IT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750808" y="3593592"/>
            <a:ext cx="182880" cy="1828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098280" y="34290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雲端協作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9098280" y="37947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Cloud collaboration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750808" y="4553712"/>
            <a:ext cx="182880" cy="1828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098280" y="43891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本地算力與原始資料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9098280" y="47548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Local compute &amp; raw data on-prem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8750808" y="5513832"/>
            <a:ext cx="182880" cy="1828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098280" y="53492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效率與掌控兼顧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9098280" y="57150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Both efficiency and control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C25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" y="12801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72184" y="12801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92808" y="12801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13432" y="12801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0704" y="1920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7E8AA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CLOSING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242316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選機台樹脂、丟模型、自動處理、送印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060704" y="3840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FC8D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Pick machine &amp; resin → drop model → auto-process → print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78992" y="4709160"/>
            <a:ext cx="2377440" cy="0"/>
          </a:xfrm>
          <a:prstGeom prst="line">
            <a:avLst/>
          </a:prstGeom>
          <a:noFill/>
          <a:ln w="25400">
            <a:solidFill>
              <a:srgbClr val="3A46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" y="6355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6C2D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Phrozen　·　PhrozenStudio Dental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PhrozenStudio Dental — 牙科切片解決方案 v0.6</dc:title>
  <dc:subject>PptxGenJS Presentation</dc:subject>
  <dc:creator>Phrozen</dc:creator>
  <cp:lastModifiedBy>Phrozen</cp:lastModifiedBy>
  <cp:revision>1</cp:revision>
  <dcterms:created xsi:type="dcterms:W3CDTF">2026-06-04T06:47:59Z</dcterms:created>
  <dcterms:modified xsi:type="dcterms:W3CDTF">2026-06-04T06:47:59Z</dcterms:modified>
</cp:coreProperties>
</file>